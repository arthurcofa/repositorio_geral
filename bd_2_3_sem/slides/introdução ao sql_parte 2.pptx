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7" r:id="rId3"/>
    <p:sldId id="265" r:id="rId4"/>
    <p:sldId id="270" r:id="rId5"/>
    <p:sldId id="271" r:id="rId6"/>
    <p:sldId id="267" r:id="rId7"/>
    <p:sldId id="268" r:id="rId8"/>
    <p:sldId id="274" r:id="rId9"/>
    <p:sldId id="269" r:id="rId10"/>
    <p:sldId id="273" r:id="rId11"/>
    <p:sldId id="272" r:id="rId12"/>
    <p:sldId id="275" r:id="rId13"/>
    <p:sldId id="277" r:id="rId14"/>
    <p:sldId id="276" r:id="rId15"/>
    <p:sldId id="278" r:id="rId16"/>
    <p:sldId id="266" r:id="rId17"/>
    <p:sldId id="287" r:id="rId18"/>
    <p:sldId id="279" r:id="rId19"/>
    <p:sldId id="288" r:id="rId20"/>
    <p:sldId id="303" r:id="rId21"/>
    <p:sldId id="280" r:id="rId22"/>
    <p:sldId id="290" r:id="rId23"/>
    <p:sldId id="304" r:id="rId24"/>
    <p:sldId id="281" r:id="rId25"/>
    <p:sldId id="291" r:id="rId26"/>
    <p:sldId id="305" r:id="rId27"/>
    <p:sldId id="282" r:id="rId28"/>
    <p:sldId id="298" r:id="rId29"/>
    <p:sldId id="292" r:id="rId30"/>
    <p:sldId id="306" r:id="rId31"/>
    <p:sldId id="283" r:id="rId32"/>
    <p:sldId id="294" r:id="rId33"/>
    <p:sldId id="293" r:id="rId34"/>
    <p:sldId id="307" r:id="rId35"/>
    <p:sldId id="284" r:id="rId36"/>
    <p:sldId id="296" r:id="rId37"/>
    <p:sldId id="308" r:id="rId38"/>
    <p:sldId id="285" r:id="rId39"/>
    <p:sldId id="309" r:id="rId40"/>
    <p:sldId id="300" r:id="rId41"/>
    <p:sldId id="310" r:id="rId42"/>
    <p:sldId id="299" r:id="rId43"/>
    <p:sldId id="286" r:id="rId44"/>
    <p:sldId id="311" r:id="rId4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vador Melo" userId="43693a522698c9da" providerId="LiveId" clId="{C7CC93CA-BD44-43F0-9C7D-FCE4EF53DAB3}"/>
    <pc:docChg chg="modSld sldOrd">
      <pc:chgData name="Salvador Melo" userId="43693a522698c9da" providerId="LiveId" clId="{C7CC93CA-BD44-43F0-9C7D-FCE4EF53DAB3}" dt="2023-05-25T19:55:39.367" v="1"/>
      <pc:docMkLst>
        <pc:docMk/>
      </pc:docMkLst>
      <pc:sldChg chg="ord">
        <pc:chgData name="Salvador Melo" userId="43693a522698c9da" providerId="LiveId" clId="{C7CC93CA-BD44-43F0-9C7D-FCE4EF53DAB3}" dt="2023-05-25T19:55:39.367" v="1"/>
        <pc:sldMkLst>
          <pc:docMk/>
          <pc:sldMk cId="2295230810" sldId="29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D00BD-238F-4850-B21E-020A7036771A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8CD5-469B-4349-A52D-21B6F5B10C1A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421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D00BD-238F-4850-B21E-020A7036771A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8CD5-469B-4349-A52D-21B6F5B10C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003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D00BD-238F-4850-B21E-020A7036771A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8CD5-469B-4349-A52D-21B6F5B10C1A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85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D00BD-238F-4850-B21E-020A7036771A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8CD5-469B-4349-A52D-21B6F5B10C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1976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D00BD-238F-4850-B21E-020A7036771A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8CD5-469B-4349-A52D-21B6F5B10C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218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D00BD-238F-4850-B21E-020A7036771A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8CD5-469B-4349-A52D-21B6F5B10C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63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D00BD-238F-4850-B21E-020A7036771A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8CD5-469B-4349-A52D-21B6F5B10C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774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E5D00BD-238F-4850-B21E-020A7036771A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158CD5-469B-4349-A52D-21B6F5B10C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602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D00BD-238F-4850-B21E-020A7036771A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8CD5-469B-4349-A52D-21B6F5B10C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0394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D00BD-238F-4850-B21E-020A7036771A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8CD5-469B-4349-A52D-21B6F5B10C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6649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D00BD-238F-4850-B21E-020A7036771A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8CD5-469B-4349-A52D-21B6F5B10C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440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E5D00BD-238F-4850-B21E-020A7036771A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3158CD5-469B-4349-A52D-21B6F5B10C1A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77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SQL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 err="1">
                <a:cs typeface="Arial" panose="020B0604020202020204" pitchFamily="34" charset="0"/>
              </a:rPr>
              <a:t>Structured</a:t>
            </a:r>
            <a:r>
              <a:rPr lang="pt-BR" b="1" dirty="0">
                <a:cs typeface="Arial" panose="020B0604020202020204" pitchFamily="34" charset="0"/>
              </a:rPr>
              <a:t> Query </a:t>
            </a:r>
            <a:r>
              <a:rPr lang="pt-BR" b="1" dirty="0" err="1">
                <a:cs typeface="Arial" panose="020B0604020202020204" pitchFamily="34" charset="0"/>
              </a:rPr>
              <a:t>Language</a:t>
            </a:r>
            <a:endParaRPr lang="pt-BR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501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06922-C8E8-4F02-A549-41F48AC4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Lembrando...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DD26CA-4B56-4879-988C-D4BEFFAD3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 Precisa estar com o MySQL Workbench aberto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 Precisa ter permissão de alteração da base de dados, por exemplo root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 Precisa definir a base de dados em uso: use teste;</a:t>
            </a:r>
          </a:p>
        </p:txBody>
      </p:sp>
    </p:spTree>
    <p:extLst>
      <p:ext uri="{BB962C8B-B14F-4D97-AF65-F5344CB8AC3E}">
        <p14:creationId xmlns:p14="http://schemas.microsoft.com/office/powerpoint/2010/main" val="1843011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COMANDOS DML- Data </a:t>
            </a:r>
            <a:r>
              <a:rPr lang="pt-BR" b="1" dirty="0" err="1"/>
              <a:t>Manipulation</a:t>
            </a:r>
            <a:r>
              <a:rPr lang="pt-BR" b="1" dirty="0"/>
              <a:t> </a:t>
            </a:r>
            <a:r>
              <a:rPr lang="pt-BR" b="1" dirty="0" err="1"/>
              <a:t>Language</a:t>
            </a:r>
            <a:r>
              <a:rPr lang="pt-BR" b="1" dirty="0"/>
              <a:t>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INSERT INTO – inserir dados em uma tabela </a:t>
            </a:r>
          </a:p>
          <a:p>
            <a:pPr marL="457200" lvl="1" indent="0">
              <a:buNone/>
            </a:pPr>
            <a:endParaRPr lang="pt-BR" dirty="0"/>
          </a:p>
          <a:p>
            <a:pPr marL="457200" lvl="1" indent="0">
              <a:buNone/>
            </a:pPr>
            <a:r>
              <a:rPr lang="pt-BR" dirty="0"/>
              <a:t>INSERT INTO </a:t>
            </a:r>
            <a:r>
              <a:rPr lang="pt-BR" dirty="0" err="1"/>
              <a:t>nome_tabela</a:t>
            </a:r>
            <a:r>
              <a:rPr lang="pt-BR" dirty="0"/>
              <a:t> (nome_coluna1, nome_coluna2, ..., </a:t>
            </a:r>
            <a:r>
              <a:rPr lang="pt-BR" dirty="0" err="1"/>
              <a:t>nome_colunaN</a:t>
            </a:r>
            <a:r>
              <a:rPr lang="pt-BR" dirty="0"/>
              <a:t>) VALUES (valor1, valor2, valor3, ..., </a:t>
            </a:r>
            <a:r>
              <a:rPr lang="pt-BR" dirty="0" err="1"/>
              <a:t>valorN</a:t>
            </a:r>
            <a:r>
              <a:rPr lang="pt-BR" dirty="0"/>
              <a:t>); </a:t>
            </a:r>
          </a:p>
          <a:p>
            <a:pPr marL="457200" lvl="1" indent="0">
              <a:buNone/>
            </a:pPr>
            <a:endParaRPr lang="pt-BR" dirty="0"/>
          </a:p>
          <a:p>
            <a:pPr marL="457200" lvl="1" indent="0">
              <a:buNone/>
            </a:pPr>
            <a:endParaRPr lang="pt-BR" dirty="0"/>
          </a:p>
          <a:p>
            <a:r>
              <a:rPr lang="pt-BR" dirty="0"/>
              <a:t>SELECT – escolher colunas (campos) da tabela para apresentar na query (consulta) </a:t>
            </a:r>
          </a:p>
          <a:p>
            <a:endParaRPr lang="pt-BR" dirty="0"/>
          </a:p>
          <a:p>
            <a:pPr marL="457200" lvl="1" indent="0">
              <a:buNone/>
            </a:pPr>
            <a:r>
              <a:rPr lang="pt-BR" dirty="0"/>
              <a:t>SELECT nome_coluna1, nome_coluna2, ..., </a:t>
            </a:r>
            <a:r>
              <a:rPr lang="pt-BR" dirty="0" err="1"/>
              <a:t>nome_colunaN</a:t>
            </a:r>
            <a:r>
              <a:rPr lang="pt-BR" dirty="0"/>
              <a:t> </a:t>
            </a:r>
          </a:p>
          <a:p>
            <a:pPr marL="457200" lvl="1" indent="0">
              <a:buNone/>
            </a:pPr>
            <a:r>
              <a:rPr lang="pt-BR" dirty="0"/>
              <a:t>FROM </a:t>
            </a:r>
            <a:r>
              <a:rPr lang="pt-BR" dirty="0" err="1"/>
              <a:t>nome_tabela</a:t>
            </a:r>
            <a:r>
              <a:rPr lang="pt-BR" dirty="0"/>
              <a:t> ;</a:t>
            </a:r>
          </a:p>
          <a:p>
            <a:pPr marL="457200" lvl="1" indent="0">
              <a:buNone/>
            </a:pPr>
            <a:endParaRPr lang="pt-BR" dirty="0"/>
          </a:p>
          <a:p>
            <a:pPr marL="457200" lvl="1" indent="0">
              <a:buNone/>
            </a:pPr>
            <a:r>
              <a:rPr lang="pt-BR" dirty="0"/>
              <a:t>SELECT * FROM </a:t>
            </a:r>
            <a:r>
              <a:rPr lang="pt-BR" dirty="0" err="1"/>
              <a:t>nome_tabela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23038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o </a:t>
            </a:r>
            <a:r>
              <a:rPr lang="pt-BR" dirty="0" err="1"/>
              <a:t>database</a:t>
            </a:r>
            <a:r>
              <a:rPr lang="pt-BR" dirty="0"/>
              <a:t> </a:t>
            </a:r>
            <a:r>
              <a:rPr lang="pt-BR" dirty="0" err="1"/>
              <a:t>db_ibge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7125" y="1804988"/>
            <a:ext cx="6499225" cy="2597053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0" y="4469669"/>
            <a:ext cx="116109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Qual a chave primária de </a:t>
            </a:r>
            <a:r>
              <a:rPr lang="pt-BR" dirty="0" err="1"/>
              <a:t>tb_regioes</a:t>
            </a:r>
            <a:r>
              <a:rPr lang="pt-BR" dirty="0"/>
              <a:t> ? ______</a:t>
            </a:r>
          </a:p>
          <a:p>
            <a:r>
              <a:rPr lang="pt-BR" dirty="0"/>
              <a:t>Qual a chave primária de </a:t>
            </a:r>
            <a:r>
              <a:rPr lang="pt-BR" dirty="0" err="1"/>
              <a:t>tb_estados</a:t>
            </a:r>
            <a:r>
              <a:rPr lang="pt-BR" dirty="0"/>
              <a:t> ? ______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Qual a chave estrangeira ? ____________ toda chave estrangeira referencia uma tabela e a chave primária dela. </a:t>
            </a:r>
          </a:p>
          <a:p>
            <a:r>
              <a:rPr lang="pt-BR" dirty="0"/>
              <a:t>Qual tabela a chave estrangeira faz referência  ?_________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2625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o </a:t>
            </a:r>
            <a:r>
              <a:rPr lang="pt-BR" dirty="0" err="1"/>
              <a:t>database</a:t>
            </a:r>
            <a:r>
              <a:rPr lang="pt-BR" dirty="0"/>
              <a:t> </a:t>
            </a:r>
            <a:r>
              <a:rPr lang="pt-BR" dirty="0" err="1"/>
              <a:t>db_ibge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7125" y="1804988"/>
            <a:ext cx="6499225" cy="2597053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0" y="4469669"/>
            <a:ext cx="116109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Qual a chave primária de </a:t>
            </a:r>
            <a:r>
              <a:rPr lang="pt-BR" dirty="0" err="1"/>
              <a:t>tb_regioes</a:t>
            </a:r>
            <a:r>
              <a:rPr lang="pt-BR" dirty="0"/>
              <a:t> ?  </a:t>
            </a:r>
            <a:r>
              <a:rPr lang="pt-BR" dirty="0">
                <a:solidFill>
                  <a:srgbClr val="00B050"/>
                </a:solidFill>
              </a:rPr>
              <a:t>id</a:t>
            </a:r>
          </a:p>
          <a:p>
            <a:r>
              <a:rPr lang="pt-BR" dirty="0"/>
              <a:t>Qual a chave primária de </a:t>
            </a:r>
            <a:r>
              <a:rPr lang="pt-BR" dirty="0" err="1"/>
              <a:t>tb_estados</a:t>
            </a:r>
            <a:r>
              <a:rPr lang="pt-BR" dirty="0"/>
              <a:t> ? </a:t>
            </a:r>
            <a:r>
              <a:rPr lang="pt-BR" dirty="0">
                <a:solidFill>
                  <a:srgbClr val="00B050"/>
                </a:solidFill>
              </a:rPr>
              <a:t>id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Qual a chave estrangeira ? </a:t>
            </a:r>
            <a:r>
              <a:rPr lang="pt-BR" dirty="0" err="1">
                <a:solidFill>
                  <a:srgbClr val="00B050"/>
                </a:solidFill>
              </a:rPr>
              <a:t>id_regiao</a:t>
            </a:r>
            <a:r>
              <a:rPr lang="pt-BR" dirty="0"/>
              <a:t>  toda chave estrangeira referencia uma tabela e a chave primária dela. </a:t>
            </a:r>
          </a:p>
          <a:p>
            <a:r>
              <a:rPr lang="pt-BR" dirty="0"/>
              <a:t>Qual tabela a chave estrangeira faz referência  ? </a:t>
            </a:r>
            <a:r>
              <a:rPr lang="pt-BR" dirty="0" err="1">
                <a:solidFill>
                  <a:srgbClr val="00B050"/>
                </a:solidFill>
              </a:rPr>
              <a:t>tb_regioes</a:t>
            </a:r>
            <a:r>
              <a:rPr lang="pt-BR" dirty="0">
                <a:solidFill>
                  <a:srgbClr val="00B050"/>
                </a:solidFill>
              </a:rPr>
              <a:t> 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1801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SQL – criar a base de dados </a:t>
            </a:r>
            <a:r>
              <a:rPr lang="pt-BR" dirty="0" err="1"/>
              <a:t>ibge</a:t>
            </a:r>
            <a:r>
              <a:rPr lang="pt-BR" dirty="0"/>
              <a:t> e criar a tabela </a:t>
            </a:r>
            <a:r>
              <a:rPr lang="pt-BR" dirty="0" err="1"/>
              <a:t>tb_regioes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CREATE DATABASE </a:t>
            </a:r>
            <a:r>
              <a:rPr lang="pt-BR" dirty="0" err="1"/>
              <a:t>db_ibge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USE </a:t>
            </a:r>
            <a:r>
              <a:rPr lang="pt-BR" dirty="0" err="1"/>
              <a:t>db_ibge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>
                <a:solidFill>
                  <a:srgbClr val="00B050"/>
                </a:solidFill>
              </a:rPr>
              <a:t>/*Criar a tabela </a:t>
            </a:r>
            <a:r>
              <a:rPr lang="pt-BR" dirty="0" err="1">
                <a:solidFill>
                  <a:srgbClr val="00B050"/>
                </a:solidFill>
              </a:rPr>
              <a:t>tb_regioes</a:t>
            </a:r>
            <a:r>
              <a:rPr lang="pt-BR" dirty="0">
                <a:solidFill>
                  <a:srgbClr val="00B050"/>
                </a:solidFill>
              </a:rPr>
              <a:t>*/</a:t>
            </a:r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tb_regioes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(  </a:t>
            </a:r>
          </a:p>
          <a:p>
            <a:pPr marL="0" indent="0">
              <a:buNone/>
            </a:pPr>
            <a:r>
              <a:rPr lang="en-US" dirty="0"/>
              <a:t>  	id INT NOT NULL PRIMARY KEY,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nome</a:t>
            </a:r>
            <a:r>
              <a:rPr lang="en-US" dirty="0"/>
              <a:t> VARCHAR(40) NOT NULL,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sigla</a:t>
            </a:r>
            <a:r>
              <a:rPr lang="en-US" dirty="0"/>
              <a:t> VARCHAR(2) NOT NULL</a:t>
            </a:r>
          </a:p>
          <a:p>
            <a:pPr marL="0" indent="0">
              <a:buNone/>
            </a:pPr>
            <a:r>
              <a:rPr lang="en-US" dirty="0"/>
              <a:t>) 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7878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Fazer os </a:t>
            </a:r>
            <a:r>
              <a:rPr lang="pt-BR" dirty="0" err="1"/>
              <a:t>insert</a:t>
            </a:r>
            <a:r>
              <a:rPr lang="pt-BR" dirty="0"/>
              <a:t>  na tabela </a:t>
            </a:r>
            <a:r>
              <a:rPr lang="pt-BR" dirty="0" err="1"/>
              <a:t>tb_regioes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00B050"/>
                </a:solidFill>
              </a:rPr>
              <a:t>Inserir os dados abaixo: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 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1638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7" name="Obje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0140722"/>
              </p:ext>
            </p:extLst>
          </p:nvPr>
        </p:nvGraphicFramePr>
        <p:xfrm>
          <a:off x="1097280" y="2679481"/>
          <a:ext cx="2533650" cy="195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m" r:id="rId2" imgW="0" imgH="0" progId="StaticMetafile">
                  <p:embed/>
                </p:oleObj>
              </mc:Choice>
              <mc:Fallback>
                <p:oleObj name="Imagem" r:id="rId2" imgW="0" imgH="0" progId="StaticMetafile">
                  <p:embed/>
                  <p:pic>
                    <p:nvPicPr>
                      <p:cNvPr id="7" name="Objeto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280" y="2679481"/>
                        <a:ext cx="2533650" cy="195919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422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Fazer os </a:t>
            </a:r>
            <a:r>
              <a:rPr lang="pt-BR" dirty="0" err="1"/>
              <a:t>insert</a:t>
            </a:r>
            <a:r>
              <a:rPr lang="pt-BR" dirty="0"/>
              <a:t>  na tabela </a:t>
            </a:r>
            <a:r>
              <a:rPr lang="pt-BR" dirty="0" err="1"/>
              <a:t>tb_regioes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insert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into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tb_regioes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id,nome,sigla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) </a:t>
            </a:r>
          </a:p>
          <a:p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Values</a:t>
            </a:r>
            <a:endParaRPr lang="pt-BR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(1, 'Norte', 'N'),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(2, 'Nordeste', 'NE'),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(3, 'Sudeste', 'SE'),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(4, 'Sul', 'S'),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(5, 'Centro-Oeste', 'CO');</a:t>
            </a:r>
          </a:p>
        </p:txBody>
      </p:sp>
    </p:spTree>
    <p:extLst>
      <p:ext uri="{BB962C8B-B14F-4D97-AF65-F5344CB8AC3E}">
        <p14:creationId xmlns:p14="http://schemas.microsoft.com/office/powerpoint/2010/main" val="477598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a tabela </a:t>
            </a:r>
            <a:r>
              <a:rPr lang="pt-BR" dirty="0" err="1"/>
              <a:t>tb_estados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CREATE TABLE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tb_estados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(</a:t>
            </a:r>
            <a:endParaRPr lang="pt-BR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 id INT NOT NULL PRIMARY KEY,</a:t>
            </a:r>
            <a:endParaRPr lang="pt-BR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nome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VARCHAR(60) NOT NULL,</a:t>
            </a:r>
            <a:endParaRPr lang="pt-BR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sigla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VARCHAR(2) NOT NULL,</a:t>
            </a:r>
            <a:endParaRPr lang="pt-BR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id_regiao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INT DEFAULT NULL,</a:t>
            </a:r>
            <a:endParaRPr lang="pt-BR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 FOREIGN KEY (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id_regiao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) REFERENCES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tb_regioes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(id)</a:t>
            </a:r>
            <a:endParaRPr lang="pt-BR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5140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Fazer os </a:t>
            </a:r>
            <a:r>
              <a:rPr lang="pt-BR" dirty="0" err="1"/>
              <a:t>inserts</a:t>
            </a:r>
            <a:r>
              <a:rPr lang="pt-BR" dirty="0"/>
              <a:t> em </a:t>
            </a:r>
            <a:r>
              <a:rPr lang="pt-BR" dirty="0" err="1"/>
              <a:t>tb_estados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0" y="1737360"/>
            <a:ext cx="268605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31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Fazer os </a:t>
            </a:r>
            <a:r>
              <a:rPr lang="pt-BR" dirty="0" err="1"/>
              <a:t>insert</a:t>
            </a:r>
            <a:r>
              <a:rPr lang="pt-BR" dirty="0"/>
              <a:t>  na tabela </a:t>
            </a:r>
            <a:r>
              <a:rPr lang="pt-BR" dirty="0" err="1"/>
              <a:t>tb_estados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insert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into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tb_estados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id,nome,sigla,id_regiao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)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Values</a:t>
            </a:r>
            <a:endParaRPr lang="pt-BR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(11, 'Rondônia', 'RO', 1),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(12, 'Acre', 'AC', 1),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(13, 'Amazonas', 'AM', 1),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(14, 'Roraima', 'RR', 1),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(15, 'Pará', 'PA', 1),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(16, 'Amapá', 'AP', 1),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(17, 'Tocantins', 'TO', 1);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3684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Fazer os </a:t>
            </a:r>
            <a:r>
              <a:rPr lang="pt-BR" dirty="0" err="1"/>
              <a:t>insert</a:t>
            </a:r>
            <a:r>
              <a:rPr lang="pt-BR" dirty="0"/>
              <a:t>  na tabela </a:t>
            </a:r>
            <a:r>
              <a:rPr lang="pt-BR" dirty="0" err="1"/>
              <a:t>tb_estados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insert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into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tb_estados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id,nome,sigla,id_regiao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)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values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(21, 'Maranhão', 'MA', 2),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(22, 'Piauí', 'PI', 2),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(23, 'Ceará', 'CE', 2),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(24, 'Rio Grande do Norte', 'RN', 2),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(25, 'Paraíba', 'PB', 2),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(26, 'Pernambuco', 'PE', 2),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(27, 'Alagoas', 'AL', 2),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(28, 'Sergipe', 'SE', 2),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(29, 'Bahia', 'BA', 2);</a:t>
            </a:r>
          </a:p>
        </p:txBody>
      </p:sp>
    </p:spTree>
    <p:extLst>
      <p:ext uri="{BB962C8B-B14F-4D97-AF65-F5344CB8AC3E}">
        <p14:creationId xmlns:p14="http://schemas.microsoft.com/office/powerpoint/2010/main" val="3826837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Fazer os </a:t>
            </a:r>
            <a:r>
              <a:rPr lang="pt-BR" dirty="0" err="1"/>
              <a:t>insert</a:t>
            </a:r>
            <a:r>
              <a:rPr lang="pt-BR" dirty="0"/>
              <a:t>  na tabela </a:t>
            </a:r>
            <a:r>
              <a:rPr lang="pt-BR" dirty="0" err="1"/>
              <a:t>tb_estados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insert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into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tb_estados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id,nome,sigla,id_regiao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)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values</a:t>
            </a:r>
            <a:endParaRPr lang="pt-BR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(31, 'Minas Gerais', 'MG', 3),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(32, 'Espírito Santo', 'ES', 3),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(33, 'Rio de Janeiro', 'RJ', 3),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(35, 'São Paulo', 'SP', 3);</a:t>
            </a:r>
          </a:p>
        </p:txBody>
      </p:sp>
    </p:spTree>
    <p:extLst>
      <p:ext uri="{BB962C8B-B14F-4D97-AF65-F5344CB8AC3E}">
        <p14:creationId xmlns:p14="http://schemas.microsoft.com/office/powerpoint/2010/main" val="3137625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Fazer os </a:t>
            </a:r>
            <a:r>
              <a:rPr lang="pt-BR" dirty="0" err="1"/>
              <a:t>insert</a:t>
            </a:r>
            <a:r>
              <a:rPr lang="pt-BR" dirty="0"/>
              <a:t>  na tabela </a:t>
            </a:r>
            <a:r>
              <a:rPr lang="pt-BR" dirty="0" err="1"/>
              <a:t>tb_estados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insert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into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tb_estados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id,nome,sigla,id_regiao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)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values</a:t>
            </a:r>
            <a:endParaRPr lang="pt-BR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(41, 'Paraná', 'PR', 4),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(42, 'Santa Catarina', 'SC', 4),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(43, 'Rio Grande do Sul', 'RS', 4);</a:t>
            </a:r>
          </a:p>
        </p:txBody>
      </p:sp>
    </p:spTree>
    <p:extLst>
      <p:ext uri="{BB962C8B-B14F-4D97-AF65-F5344CB8AC3E}">
        <p14:creationId xmlns:p14="http://schemas.microsoft.com/office/powerpoint/2010/main" val="2665988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Fazer os </a:t>
            </a:r>
            <a:r>
              <a:rPr lang="pt-BR" dirty="0" err="1"/>
              <a:t>insert</a:t>
            </a:r>
            <a:r>
              <a:rPr lang="pt-BR" dirty="0"/>
              <a:t>  na tabela </a:t>
            </a:r>
            <a:r>
              <a:rPr lang="pt-BR" dirty="0" err="1"/>
              <a:t>tb_estados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insert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into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tb_estados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id,nome,sigla,id_regiao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)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values</a:t>
            </a:r>
            <a:endParaRPr lang="pt-BR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(50, 'Mato Grosso do Sul', 'MS', 5),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(51, 'Mato Grosso', 'MT', 5),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(52, 'Goiás', 'GO', 5),</a:t>
            </a:r>
          </a:p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(53, 'Distrito Federal', 'DF', 5);</a:t>
            </a:r>
          </a:p>
        </p:txBody>
      </p:sp>
    </p:spTree>
    <p:extLst>
      <p:ext uri="{BB962C8B-B14F-4D97-AF65-F5344CB8AC3E}">
        <p14:creationId xmlns:p14="http://schemas.microsoft.com/office/powerpoint/2010/main" val="2080866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SELECT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SELECT – escolher colunas (campos) da tabela para apresentar na query (consulta) </a:t>
            </a:r>
          </a:p>
          <a:p>
            <a:endParaRPr lang="pt-BR" dirty="0"/>
          </a:p>
          <a:p>
            <a:r>
              <a:rPr lang="pt-BR" dirty="0"/>
              <a:t>SELECT nome_coluna1, nome_coluna2, ..., </a:t>
            </a:r>
            <a:r>
              <a:rPr lang="pt-BR" dirty="0" err="1"/>
              <a:t>nome_colunaN</a:t>
            </a:r>
            <a:r>
              <a:rPr lang="pt-BR" dirty="0"/>
              <a:t> </a:t>
            </a:r>
          </a:p>
          <a:p>
            <a:r>
              <a:rPr lang="pt-BR" dirty="0"/>
              <a:t>FROM </a:t>
            </a:r>
            <a:r>
              <a:rPr lang="pt-BR" dirty="0" err="1"/>
              <a:t>nome_tabela</a:t>
            </a:r>
            <a:r>
              <a:rPr lang="pt-BR" dirty="0"/>
              <a:t> ;</a:t>
            </a:r>
          </a:p>
          <a:p>
            <a:endParaRPr lang="pt-BR" dirty="0"/>
          </a:p>
          <a:p>
            <a:r>
              <a:rPr lang="pt-BR" dirty="0"/>
              <a:t>SELECT * FROM </a:t>
            </a:r>
            <a:r>
              <a:rPr lang="pt-BR" dirty="0" err="1"/>
              <a:t>nome_tabela</a:t>
            </a:r>
            <a:r>
              <a:rPr lang="pt-BR" dirty="0"/>
              <a:t> ;</a:t>
            </a:r>
          </a:p>
          <a:p>
            <a:pPr lvl="1"/>
            <a:r>
              <a:rPr lang="pt-BR" dirty="0"/>
              <a:t>Se você deseja selecionar todos os campos disponíveis na tabela, use o *</a:t>
            </a:r>
          </a:p>
          <a:p>
            <a:r>
              <a:rPr lang="pt-BR" dirty="0"/>
              <a:t>SELECT DISTINCT nome_coluna1, nome_coluna2, ..., </a:t>
            </a:r>
            <a:r>
              <a:rPr lang="pt-BR" dirty="0" err="1"/>
              <a:t>nome_colunaN</a:t>
            </a:r>
            <a:r>
              <a:rPr lang="pt-BR" dirty="0"/>
              <a:t> FROM </a:t>
            </a:r>
            <a:r>
              <a:rPr lang="pt-BR" dirty="0" err="1"/>
              <a:t>nome_tabela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A instrução SELECT DISTINCT é usada para retornar apenas valores distintos (diferentes)</a:t>
            </a:r>
          </a:p>
        </p:txBody>
      </p:sp>
    </p:spTree>
    <p:extLst>
      <p:ext uri="{BB962C8B-B14F-4D97-AF65-F5344CB8AC3E}">
        <p14:creationId xmlns:p14="http://schemas.microsoft.com/office/powerpoint/2010/main" val="828886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 com SELECT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 – Selecione todos os dados da tabela </a:t>
            </a:r>
            <a:r>
              <a:rPr lang="pt-BR" dirty="0" err="1"/>
              <a:t>tb_regiões</a:t>
            </a:r>
            <a:endParaRPr lang="pt-BR" dirty="0"/>
          </a:p>
          <a:p>
            <a:r>
              <a:rPr lang="pt-BR" dirty="0"/>
              <a:t>2 – Selecione apenas o nome das regiões </a:t>
            </a:r>
          </a:p>
          <a:p>
            <a:r>
              <a:rPr lang="pt-BR" dirty="0"/>
              <a:t>3 – Selecione todos os dados da tabela </a:t>
            </a:r>
            <a:r>
              <a:rPr lang="pt-BR" dirty="0" err="1"/>
              <a:t>tb_estados</a:t>
            </a:r>
            <a:endParaRPr lang="pt-BR" dirty="0"/>
          </a:p>
          <a:p>
            <a:r>
              <a:rPr lang="pt-BR" dirty="0"/>
              <a:t>4 – Selecione apenas o nome do estado e a sigla dos estados</a:t>
            </a:r>
          </a:p>
          <a:p>
            <a:r>
              <a:rPr lang="pt-BR" dirty="0"/>
              <a:t>5 – Selecione o </a:t>
            </a:r>
            <a:r>
              <a:rPr lang="pt-BR" dirty="0" err="1"/>
              <a:t>id_região</a:t>
            </a:r>
            <a:r>
              <a:rPr lang="pt-BR" dirty="0"/>
              <a:t> da tabela estados de forma distinta;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7402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WHERE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A cláusula WHERE é usada para extrair apenas os registros que atendem a uma condição especificada.</a:t>
            </a:r>
          </a:p>
          <a:p>
            <a:r>
              <a:rPr lang="pt-BR" dirty="0"/>
              <a:t>SELECT nome_coluna1, nome_coluna2, ..., </a:t>
            </a:r>
            <a:r>
              <a:rPr lang="pt-BR" dirty="0" err="1"/>
              <a:t>nome_colunaN</a:t>
            </a:r>
            <a:r>
              <a:rPr lang="pt-BR" dirty="0"/>
              <a:t> </a:t>
            </a:r>
          </a:p>
          <a:p>
            <a:r>
              <a:rPr lang="pt-BR" dirty="0"/>
              <a:t>FROM </a:t>
            </a:r>
            <a:r>
              <a:rPr lang="pt-BR" dirty="0" err="1"/>
              <a:t>nome_tabela</a:t>
            </a:r>
            <a:r>
              <a:rPr lang="pt-BR" dirty="0"/>
              <a:t> </a:t>
            </a:r>
          </a:p>
          <a:p>
            <a:r>
              <a:rPr lang="pt-BR" dirty="0"/>
              <a:t>WHERE condição;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4" y="3967162"/>
            <a:ext cx="2580243" cy="190193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8CFF99C-B395-4046-9DFB-6A75E763C783}"/>
              </a:ext>
            </a:extLst>
          </p:cNvPr>
          <p:cNvSpPr txBox="1"/>
          <p:nvPr/>
        </p:nvSpPr>
        <p:spPr>
          <a:xfrm>
            <a:off x="6467061" y="4197310"/>
            <a:ext cx="3975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Exemplo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Clientes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Pais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'Mexico'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3654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 com SELECT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6 – Selecione todos os dados da tabela </a:t>
            </a:r>
            <a:r>
              <a:rPr lang="pt-BR" dirty="0" err="1"/>
              <a:t>tb_regiões</a:t>
            </a:r>
            <a:r>
              <a:rPr lang="pt-BR" dirty="0"/>
              <a:t> quando o nome da região for igual a Sul</a:t>
            </a:r>
          </a:p>
          <a:p>
            <a:r>
              <a:rPr lang="pt-BR" dirty="0"/>
              <a:t>7 – Selecione apenas o nome das regiões quando o nome da região o id for maior ou igual a 3</a:t>
            </a:r>
          </a:p>
          <a:p>
            <a:r>
              <a:rPr lang="pt-BR" dirty="0"/>
              <a:t>8 – Selecione todos os dados da tabela </a:t>
            </a:r>
            <a:r>
              <a:rPr lang="pt-BR" dirty="0" err="1"/>
              <a:t>tb_estados</a:t>
            </a:r>
            <a:r>
              <a:rPr lang="pt-BR" dirty="0"/>
              <a:t> que o id da região for igual a 3</a:t>
            </a:r>
          </a:p>
          <a:p>
            <a:r>
              <a:rPr lang="pt-BR" dirty="0"/>
              <a:t>9 – Selecione apenas o nome do estado e a sigla dos estados quando o id estado for menor que 24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3735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6800" y="-340351"/>
            <a:ext cx="10058400" cy="1450757"/>
          </a:xfrm>
        </p:spPr>
        <p:txBody>
          <a:bodyPr/>
          <a:lstStyle/>
          <a:p>
            <a:r>
              <a:rPr lang="pt-BR" dirty="0"/>
              <a:t>Prática com SELECT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4114800" cy="4349326"/>
          </a:xfrm>
        </p:spPr>
        <p:txBody>
          <a:bodyPr/>
          <a:lstStyle/>
          <a:p>
            <a:r>
              <a:rPr lang="pt-BR" dirty="0"/>
              <a:t>6 – Selecione todos os dados da tabela </a:t>
            </a:r>
            <a:r>
              <a:rPr lang="pt-BR" dirty="0" err="1"/>
              <a:t>tb_regiões</a:t>
            </a:r>
            <a:r>
              <a:rPr lang="pt-BR" dirty="0"/>
              <a:t> quando o nome da região for igual a Sul</a:t>
            </a:r>
          </a:p>
          <a:p>
            <a:r>
              <a:rPr lang="pt-BR" dirty="0"/>
              <a:t>7 – Selecione apenas o nome das regiões quando o nome da região o id for maior ou igual a 3</a:t>
            </a:r>
          </a:p>
          <a:p>
            <a:r>
              <a:rPr lang="pt-BR" dirty="0"/>
              <a:t>8 – Selecione todos os dados da tabela </a:t>
            </a:r>
            <a:r>
              <a:rPr lang="pt-BR" dirty="0" err="1"/>
              <a:t>tb_estados</a:t>
            </a:r>
            <a:r>
              <a:rPr lang="pt-BR" dirty="0"/>
              <a:t> que o id da região for igual a 3</a:t>
            </a:r>
          </a:p>
          <a:p>
            <a:r>
              <a:rPr lang="pt-BR" dirty="0"/>
              <a:t>9 – Selecione apenas o nome do estado e a sigla dos estados quando o id estado for menor que 24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17EA7AF-FC2F-0C82-A75E-E1103E1C1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46" y="1110406"/>
            <a:ext cx="6736358" cy="508465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11662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Operadores: AND / 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SELECT nome_coluna1, nome_coluna2, ..., </a:t>
            </a:r>
            <a:r>
              <a:rPr lang="pt-BR" dirty="0" err="1"/>
              <a:t>nome_colunaN</a:t>
            </a:r>
            <a:r>
              <a:rPr lang="pt-BR" dirty="0"/>
              <a:t> </a:t>
            </a:r>
          </a:p>
          <a:p>
            <a:r>
              <a:rPr lang="pt-BR" dirty="0"/>
              <a:t>FROM </a:t>
            </a:r>
            <a:r>
              <a:rPr lang="pt-BR" dirty="0" err="1"/>
              <a:t>nome_tabela</a:t>
            </a:r>
            <a:r>
              <a:rPr lang="pt-BR" dirty="0"/>
              <a:t> </a:t>
            </a:r>
          </a:p>
          <a:p>
            <a:r>
              <a:rPr lang="pt-BR" dirty="0"/>
              <a:t>WHERE condição1 </a:t>
            </a:r>
          </a:p>
          <a:p>
            <a:r>
              <a:rPr lang="pt-BR" dirty="0"/>
              <a:t>AND condição2 ;</a:t>
            </a:r>
          </a:p>
          <a:p>
            <a:endParaRPr lang="pt-BR" dirty="0"/>
          </a:p>
          <a:p>
            <a:r>
              <a:rPr lang="pt-BR" dirty="0"/>
              <a:t>SELECT nome_coluna1, nome_coluna2, ..., </a:t>
            </a:r>
            <a:r>
              <a:rPr lang="pt-BR" dirty="0" err="1"/>
              <a:t>nome_colunaN</a:t>
            </a:r>
            <a:r>
              <a:rPr lang="pt-BR" dirty="0"/>
              <a:t> </a:t>
            </a:r>
          </a:p>
          <a:p>
            <a:r>
              <a:rPr lang="pt-BR" dirty="0"/>
              <a:t>FROM </a:t>
            </a:r>
            <a:r>
              <a:rPr lang="pt-BR" dirty="0" err="1"/>
              <a:t>nome_tabela</a:t>
            </a:r>
            <a:r>
              <a:rPr lang="pt-BR" dirty="0"/>
              <a:t> </a:t>
            </a:r>
          </a:p>
          <a:p>
            <a:r>
              <a:rPr lang="pt-BR" dirty="0"/>
              <a:t>WHERE condição1 </a:t>
            </a:r>
          </a:p>
          <a:p>
            <a:r>
              <a:rPr lang="pt-BR" dirty="0"/>
              <a:t>OR condição2;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E1E3EB-323D-453F-A844-2618C06589F8}"/>
              </a:ext>
            </a:extLst>
          </p:cNvPr>
          <p:cNvSpPr txBox="1"/>
          <p:nvPr/>
        </p:nvSpPr>
        <p:spPr>
          <a:xfrm>
            <a:off x="7792278" y="0"/>
            <a:ext cx="43997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Os operadores AND e OR são usados ​​para filtrar registros com base em mais de uma condição:</a:t>
            </a:r>
          </a:p>
          <a:p>
            <a:pPr algn="l"/>
            <a:endParaRPr lang="pt-BR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 operador AND exibe um registro se todas as condições separadas por AND forem verdadeiras.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 operador OR exibe um registro se alguma das condições separadas por OR for TRUE.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54A579A-875D-41DB-9C30-0BC681D3AFBC}"/>
              </a:ext>
            </a:extLst>
          </p:cNvPr>
          <p:cNvSpPr txBox="1"/>
          <p:nvPr/>
        </p:nvSpPr>
        <p:spPr>
          <a:xfrm>
            <a:off x="6298095" y="4933543"/>
            <a:ext cx="61026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Exemplo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Clientes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Pais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‘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Alemanha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Cidade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'Berlin'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37665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 com SELECT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10 – Selecione todos os dados da tabela </a:t>
            </a:r>
            <a:r>
              <a:rPr lang="pt-BR" dirty="0" err="1"/>
              <a:t>tb_estados</a:t>
            </a:r>
            <a:r>
              <a:rPr lang="pt-BR" dirty="0"/>
              <a:t> quando id da região for igual a 4 ou 5</a:t>
            </a:r>
          </a:p>
          <a:p>
            <a:r>
              <a:rPr lang="pt-BR" dirty="0"/>
              <a:t>11– Selecione apenas o nome dos estados quando o id região for igual a 2 e a sigla do estado for igual a AL</a:t>
            </a:r>
          </a:p>
          <a:p>
            <a:r>
              <a:rPr lang="pt-BR" dirty="0"/>
              <a:t>12 – Selecione apenas o nome dos estados quando o id região for igual a 2 e a sigla do estado for igual a AL ou CE ou PB</a:t>
            </a:r>
          </a:p>
          <a:p>
            <a:r>
              <a:rPr lang="pt-BR" dirty="0"/>
              <a:t>13 – Selecione apenas o nome dos estados quando o id região for diferente de 2 e a sigla do estado for igual a DF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817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 com SELECT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3"/>
            <a:ext cx="4998720" cy="4243781"/>
          </a:xfrm>
        </p:spPr>
        <p:txBody>
          <a:bodyPr/>
          <a:lstStyle/>
          <a:p>
            <a:r>
              <a:rPr lang="pt-BR" dirty="0"/>
              <a:t>10 – Selecione todos os dados da tabela </a:t>
            </a:r>
            <a:r>
              <a:rPr lang="pt-BR" dirty="0" err="1"/>
              <a:t>tb_estados</a:t>
            </a:r>
            <a:r>
              <a:rPr lang="pt-BR" dirty="0"/>
              <a:t> quando id da região for igual a 4 ou 5</a:t>
            </a:r>
          </a:p>
          <a:p>
            <a:r>
              <a:rPr lang="pt-BR" dirty="0"/>
              <a:t>11– Selecione apenas o nome dos estados quando o id região for igual a 2 e a sigla do estado for igual a AL</a:t>
            </a:r>
          </a:p>
          <a:p>
            <a:r>
              <a:rPr lang="pt-BR" dirty="0"/>
              <a:t>12 – Selecione apenas o nome dos estados quando o id região for igual a 2 e a sigla do estado for igual a AL ou CE ou PB</a:t>
            </a:r>
          </a:p>
          <a:p>
            <a:r>
              <a:rPr lang="pt-BR" dirty="0"/>
              <a:t>13 – Selecione apenas o nome dos estados quando o id região for diferente de 2 e a sigla do estado for igual a DF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4C7E2B-A298-C69E-8A25-1BA699A91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904" y="65935"/>
            <a:ext cx="5544532" cy="57317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10069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ORDER BY – ordenar a apresentação dos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3829878"/>
            <a:ext cx="6535972" cy="2039216"/>
          </a:xfrm>
        </p:spPr>
        <p:txBody>
          <a:bodyPr/>
          <a:lstStyle/>
          <a:p>
            <a:r>
              <a:rPr lang="pt-BR" dirty="0"/>
              <a:t>SELECT nome_coluna1, nome_coluna2, ..., </a:t>
            </a:r>
            <a:r>
              <a:rPr lang="pt-BR" dirty="0" err="1"/>
              <a:t>nome_colunaN</a:t>
            </a:r>
            <a:r>
              <a:rPr lang="pt-BR" dirty="0"/>
              <a:t> </a:t>
            </a:r>
          </a:p>
          <a:p>
            <a:r>
              <a:rPr lang="pt-BR" dirty="0"/>
              <a:t>FROM </a:t>
            </a:r>
            <a:r>
              <a:rPr lang="pt-BR" dirty="0" err="1"/>
              <a:t>nome_tabela</a:t>
            </a:r>
            <a:r>
              <a:rPr lang="pt-BR" dirty="0"/>
              <a:t> </a:t>
            </a:r>
          </a:p>
          <a:p>
            <a:r>
              <a:rPr lang="pt-BR" dirty="0"/>
              <a:t>ORDER BY </a:t>
            </a:r>
            <a:r>
              <a:rPr lang="pt-BR" dirty="0" err="1"/>
              <a:t>nome_coluna</a:t>
            </a:r>
            <a:r>
              <a:rPr lang="pt-BR" dirty="0"/>
              <a:t> ASC | DESC;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23A84B6-887D-452B-9F2D-842EA800912B}"/>
              </a:ext>
            </a:extLst>
          </p:cNvPr>
          <p:cNvSpPr txBox="1"/>
          <p:nvPr/>
        </p:nvSpPr>
        <p:spPr>
          <a:xfrm>
            <a:off x="1097280" y="1798553"/>
            <a:ext cx="10058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palavra-chave ORDER BY é usada para classificar o conjunto de resultados em ordem crescente ou decrescente.</a:t>
            </a:r>
          </a:p>
          <a:p>
            <a:pPr algn="l"/>
            <a:endParaRPr lang="pt-BR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pt-BR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palavra-chave ORDER BY classifica os registros em ordem crescente por padrão. Para classificar os registros em ordem decrescente, use a palavra-chave DESC.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6BC61B1-2A82-4AB8-A737-0A19073CA566}"/>
              </a:ext>
            </a:extLst>
          </p:cNvPr>
          <p:cNvSpPr txBox="1"/>
          <p:nvPr/>
        </p:nvSpPr>
        <p:spPr>
          <a:xfrm>
            <a:off x="7633252" y="4387821"/>
            <a:ext cx="3962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Exemplo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Clientes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Pais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52654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 com SELECT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14 – Selecione o nome dos estados por ordem alfabética de nome de forma ascendente;</a:t>
            </a:r>
          </a:p>
          <a:p>
            <a:r>
              <a:rPr lang="pt-BR" dirty="0"/>
              <a:t>15 – Selecione o nome dos estados por ordem alfabética de nome de forma descente;</a:t>
            </a:r>
          </a:p>
          <a:p>
            <a:r>
              <a:rPr lang="pt-BR" dirty="0"/>
              <a:t>16 - Selecione o nome dos estados e a sigla por ordem crescente de </a:t>
            </a:r>
            <a:r>
              <a:rPr lang="pt-BR" dirty="0" err="1"/>
              <a:t>id_região</a:t>
            </a:r>
            <a:r>
              <a:rPr lang="pt-BR" dirty="0"/>
              <a:t> e depois por ordem alfabética de nome estado;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8719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4752" y="-325872"/>
            <a:ext cx="10058400" cy="1450757"/>
          </a:xfrm>
        </p:spPr>
        <p:txBody>
          <a:bodyPr/>
          <a:lstStyle/>
          <a:p>
            <a:r>
              <a:rPr lang="pt-BR" dirty="0"/>
              <a:t>Prática com SELECT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3"/>
            <a:ext cx="4771014" cy="4131735"/>
          </a:xfrm>
        </p:spPr>
        <p:txBody>
          <a:bodyPr/>
          <a:lstStyle/>
          <a:p>
            <a:r>
              <a:rPr lang="pt-BR" dirty="0"/>
              <a:t>14 – Selecione o nome dos estados por ordem alfabética de nome de forma ascendente;</a:t>
            </a:r>
          </a:p>
          <a:p>
            <a:r>
              <a:rPr lang="pt-BR" dirty="0"/>
              <a:t>15 – Selecione o nome dos estados por ordem alfabética de nome de forma descente;</a:t>
            </a:r>
          </a:p>
          <a:p>
            <a:r>
              <a:rPr lang="pt-BR" dirty="0"/>
              <a:t>16 - Selecione o nome dos estados e a sigla por ordem crescente de </a:t>
            </a:r>
            <a:r>
              <a:rPr lang="pt-BR" dirty="0" err="1"/>
              <a:t>id_região</a:t>
            </a:r>
            <a:r>
              <a:rPr lang="pt-BR" dirty="0"/>
              <a:t> e depois por ordem alfabética de nome estado;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87287B-45B9-F7B1-C607-77B7253BC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294" y="988906"/>
            <a:ext cx="6098369" cy="41317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53069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LIKE – condição para seleção de linhas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LIKE – condição para seleção de linhas (registros) da tabela usando textos </a:t>
            </a:r>
          </a:p>
          <a:p>
            <a:r>
              <a:rPr lang="pt-BR" dirty="0"/>
              <a:t>SELECT nome_coluna1, nome_coluna2, ..., </a:t>
            </a:r>
            <a:r>
              <a:rPr lang="pt-BR" dirty="0" err="1"/>
              <a:t>nome_colunaN</a:t>
            </a:r>
            <a:r>
              <a:rPr lang="pt-BR" dirty="0"/>
              <a:t> </a:t>
            </a:r>
          </a:p>
          <a:p>
            <a:r>
              <a:rPr lang="pt-BR" dirty="0"/>
              <a:t>FROM </a:t>
            </a:r>
            <a:r>
              <a:rPr lang="pt-BR" dirty="0" err="1"/>
              <a:t>nome_tabela</a:t>
            </a:r>
            <a:r>
              <a:rPr lang="pt-BR" dirty="0"/>
              <a:t> </a:t>
            </a:r>
          </a:p>
          <a:p>
            <a:r>
              <a:rPr lang="pt-BR" dirty="0"/>
              <a:t>WHERE </a:t>
            </a:r>
            <a:r>
              <a:rPr lang="pt-BR" dirty="0" err="1"/>
              <a:t>nome_coluna</a:t>
            </a:r>
            <a:r>
              <a:rPr lang="pt-BR" dirty="0"/>
              <a:t> LIKE padrão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b="57412"/>
          <a:stretch/>
        </p:blipFill>
        <p:spPr>
          <a:xfrm>
            <a:off x="1068705" y="3681412"/>
            <a:ext cx="7622535" cy="8620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788AB76-BD8F-407F-A94C-3A4B65CEB52E}"/>
              </a:ext>
            </a:extLst>
          </p:cNvPr>
          <p:cNvSpPr txBox="1"/>
          <p:nvPr/>
        </p:nvSpPr>
        <p:spPr>
          <a:xfrm>
            <a:off x="5380382" y="505413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Exemplo</a:t>
            </a:r>
            <a:endParaRPr lang="en-US" dirty="0"/>
          </a:p>
          <a:p>
            <a:r>
              <a:rPr lang="en-US" dirty="0"/>
              <a:t>SELECT * FROM </a:t>
            </a:r>
            <a:r>
              <a:rPr lang="en-US" dirty="0" err="1"/>
              <a:t>Clientes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ClienteNome</a:t>
            </a:r>
            <a:r>
              <a:rPr lang="en-US" dirty="0"/>
              <a:t> LIKE 'a%';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2251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LIKE – condição para seleção de linhas</a:t>
            </a:r>
          </a:p>
        </p:txBody>
      </p:sp>
      <p:sp>
        <p:nvSpPr>
          <p:cNvPr id="8" name="Espaço Reservado para Conteúdo 5">
            <a:extLst>
              <a:ext uri="{FF2B5EF4-FFF2-40B4-BE49-F238E27FC236}">
                <a16:creationId xmlns:a16="http://schemas.microsoft.com/office/drawing/2014/main" id="{D992508A-22E0-417D-AD9E-11642F14E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4022725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Exemplos: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 WHERE </a:t>
            </a:r>
            <a:r>
              <a:rPr lang="pt-BR" dirty="0" err="1"/>
              <a:t>CustomerName</a:t>
            </a:r>
            <a:r>
              <a:rPr lang="pt-BR" dirty="0"/>
              <a:t> LIKE 'a%’ 		Encontra qualquer valor que comece com "a"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 WHERE </a:t>
            </a:r>
            <a:r>
              <a:rPr lang="pt-BR" dirty="0" err="1"/>
              <a:t>CustomerName</a:t>
            </a:r>
            <a:r>
              <a:rPr lang="pt-BR" dirty="0"/>
              <a:t> LIKE '% a’ 		Encontra todos os valores que terminam com "a"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 WHERE </a:t>
            </a:r>
            <a:r>
              <a:rPr lang="pt-BR" dirty="0" err="1"/>
              <a:t>CustomerName</a:t>
            </a:r>
            <a:r>
              <a:rPr lang="pt-BR" dirty="0"/>
              <a:t> LIKE '% ou%’ 	Encontra quaisquer valores que tenham "ou" em 						qualquer posição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 WHERE </a:t>
            </a:r>
            <a:r>
              <a:rPr lang="pt-BR" dirty="0" err="1"/>
              <a:t>CustomerName</a:t>
            </a:r>
            <a:r>
              <a:rPr lang="pt-BR" dirty="0"/>
              <a:t> LIKE '_r%’ 		Encontra qualquer valor que tenha "r" na segunda 						posição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 WHERE </a:t>
            </a:r>
            <a:r>
              <a:rPr lang="pt-BR" dirty="0" err="1"/>
              <a:t>CustomerName</a:t>
            </a:r>
            <a:r>
              <a:rPr lang="pt-BR" dirty="0"/>
              <a:t> LIKE 'a_%’ 	Encontra qualquer valor que comece com "a" e tenha 						pelo menos 2 caracteres de comprimento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 WHERE </a:t>
            </a:r>
            <a:r>
              <a:rPr lang="pt-BR" dirty="0" err="1"/>
              <a:t>CustomerName</a:t>
            </a:r>
            <a:r>
              <a:rPr lang="pt-BR" dirty="0"/>
              <a:t> LIKE 'a __%’ 	Encontra qualquer valor que comece com "a" e tenha 						pelo menos 3 caracteres de comprimento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 WHERE </a:t>
            </a:r>
            <a:r>
              <a:rPr lang="pt-BR" dirty="0" err="1"/>
              <a:t>ContactName</a:t>
            </a:r>
            <a:r>
              <a:rPr lang="pt-BR" dirty="0"/>
              <a:t> LIKE 'a% o’ 		Encontra qualquer valor que comece com "a" e termine 					com "o"</a:t>
            </a:r>
          </a:p>
        </p:txBody>
      </p:sp>
    </p:spTree>
    <p:extLst>
      <p:ext uri="{BB962C8B-B14F-4D97-AF65-F5344CB8AC3E}">
        <p14:creationId xmlns:p14="http://schemas.microsoft.com/office/powerpoint/2010/main" val="2301615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 com SELECT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17 – Selecione o nome dos estados cujo o nome tem a palavra “rio”</a:t>
            </a:r>
          </a:p>
          <a:p>
            <a:r>
              <a:rPr lang="pt-BR" dirty="0"/>
              <a:t>18 – Selecione o nome dos estados que inicia com a letra A e em ordem alfabética;</a:t>
            </a:r>
          </a:p>
          <a:p>
            <a:r>
              <a:rPr lang="pt-BR" dirty="0"/>
              <a:t>19 - Selecione o nome dos estados e a sigla, que o nome do estado termina com a letra A;</a:t>
            </a:r>
          </a:p>
          <a:p>
            <a:r>
              <a:rPr lang="pt-BR" dirty="0"/>
              <a:t>20 - Selecione o nome dos estados e a sigla, que o nome do estado tenha 4 caracteres;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1270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 com SELECT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54734"/>
          </a:xfrm>
        </p:spPr>
        <p:txBody>
          <a:bodyPr/>
          <a:lstStyle/>
          <a:p>
            <a:r>
              <a:rPr lang="pt-BR" dirty="0"/>
              <a:t>17 – Selecione o nome dos estados cujo o nome tem a palavra “rio”</a:t>
            </a:r>
          </a:p>
          <a:p>
            <a:r>
              <a:rPr lang="pt-BR" dirty="0"/>
              <a:t>18 – Selecione o nome dos estados que inicia com a letra A e em ordem alfabética;</a:t>
            </a:r>
          </a:p>
          <a:p>
            <a:r>
              <a:rPr lang="pt-BR" dirty="0"/>
              <a:t>19 - Selecione o nome dos estados e a sigla, que o nome do estado termina com a letra A;</a:t>
            </a:r>
          </a:p>
          <a:p>
            <a:r>
              <a:rPr lang="pt-BR" dirty="0"/>
              <a:t>20 - Selecione o nome dos estados e a sigla, que o nome do estado tenha 4 caracteres;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07ABF3-F3BE-0EBE-EB8E-9A6C73E7C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970" y="405466"/>
            <a:ext cx="5561786" cy="45719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65234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 (significa DENTRO)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SELECT nome_coluna1, nome_coluna2, ..., </a:t>
            </a:r>
            <a:r>
              <a:rPr lang="pt-BR" dirty="0" err="1"/>
              <a:t>nome_colunaN</a:t>
            </a:r>
            <a:r>
              <a:rPr lang="pt-BR" dirty="0"/>
              <a:t> </a:t>
            </a:r>
          </a:p>
          <a:p>
            <a:r>
              <a:rPr lang="pt-BR" dirty="0"/>
              <a:t>FROM </a:t>
            </a:r>
            <a:r>
              <a:rPr lang="pt-BR" dirty="0" err="1"/>
              <a:t>nome_tabela</a:t>
            </a:r>
            <a:r>
              <a:rPr lang="pt-BR" dirty="0"/>
              <a:t> </a:t>
            </a:r>
          </a:p>
          <a:p>
            <a:r>
              <a:rPr lang="pt-BR" dirty="0"/>
              <a:t>WHERE </a:t>
            </a:r>
            <a:r>
              <a:rPr lang="pt-BR" dirty="0" err="1"/>
              <a:t>nome_coluna</a:t>
            </a:r>
            <a:r>
              <a:rPr lang="pt-BR" dirty="0"/>
              <a:t> IN (valor1, valor2, ..., valor3)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7559556-C279-4F97-9732-2D4C092B7A19}"/>
              </a:ext>
            </a:extLst>
          </p:cNvPr>
          <p:cNvSpPr txBox="1"/>
          <p:nvPr/>
        </p:nvSpPr>
        <p:spPr>
          <a:xfrm>
            <a:off x="6520070" y="138313"/>
            <a:ext cx="56719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operador IN permite que você especifique vários valores em uma cláusula WHERE.</a:t>
            </a:r>
          </a:p>
          <a:p>
            <a:endParaRPr lang="pt-BR" dirty="0"/>
          </a:p>
          <a:p>
            <a:r>
              <a:rPr lang="pt-BR" dirty="0"/>
              <a:t>O operador IN é uma abreviação para várias condições OR.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84563E0-228D-45B8-B921-03A7EB807A3B}"/>
              </a:ext>
            </a:extLst>
          </p:cNvPr>
          <p:cNvSpPr txBox="1"/>
          <p:nvPr/>
        </p:nvSpPr>
        <p:spPr>
          <a:xfrm>
            <a:off x="4972216" y="4719935"/>
            <a:ext cx="69149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Exemplo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Clientes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Pais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‘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Alemanha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França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Inglaterra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878729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NOT – (significa não)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 pode ser associado a cláusula IN</a:t>
            </a:r>
          </a:p>
          <a:p>
            <a:endParaRPr lang="pt-BR" dirty="0"/>
          </a:p>
          <a:p>
            <a:r>
              <a:rPr lang="pt-BR" dirty="0"/>
              <a:t>NOT IN (não dentro)</a:t>
            </a:r>
          </a:p>
        </p:txBody>
      </p:sp>
    </p:spTree>
    <p:extLst>
      <p:ext uri="{BB962C8B-B14F-4D97-AF65-F5344CB8AC3E}">
        <p14:creationId xmlns:p14="http://schemas.microsoft.com/office/powerpoint/2010/main" val="18475500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 com SELECT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21 – Selecione o nome dos estados cuja a sigla seja DF, TO, AC, AL, PB, PA, PR;</a:t>
            </a:r>
          </a:p>
          <a:p>
            <a:r>
              <a:rPr lang="pt-BR" dirty="0"/>
              <a:t>22 – Selecione o nome dos estados que inicia com a letra A e a sigla seja diferente de AL;</a:t>
            </a:r>
          </a:p>
          <a:p>
            <a:r>
              <a:rPr lang="pt-BR" dirty="0"/>
              <a:t>23 - Selecione o nome dos estados e a sigla, que o id da região não seja 11 e 12;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5230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 com SELECT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4345988" cy="4089240"/>
          </a:xfrm>
        </p:spPr>
        <p:txBody>
          <a:bodyPr/>
          <a:lstStyle/>
          <a:p>
            <a:r>
              <a:rPr lang="pt-BR" dirty="0"/>
              <a:t>21 – Selecione o nome dos estados cuja a sigla seja DF, TO, AC, AL, PB, PA, PR;</a:t>
            </a:r>
          </a:p>
          <a:p>
            <a:r>
              <a:rPr lang="pt-BR" dirty="0"/>
              <a:t>22 – Selecione o nome dos estados que inicia com a letra A e a sigla seja diferente de AL;</a:t>
            </a:r>
          </a:p>
          <a:p>
            <a:r>
              <a:rPr lang="pt-BR" dirty="0"/>
              <a:t>23 - Selecione o nome dos estados e a sigla, que o id da região não seja 11 e 12;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6FD856-4274-3AD6-4E26-B574C50BF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996" y="1845734"/>
            <a:ext cx="6385734" cy="308196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941153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BETWEEN (significa ENTRE – é semelhante ao usar o AND para faixa de valores)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4309476"/>
            <a:ext cx="10058400" cy="1559618"/>
          </a:xfrm>
        </p:spPr>
        <p:txBody>
          <a:bodyPr/>
          <a:lstStyle/>
          <a:p>
            <a:r>
              <a:rPr lang="pt-BR" dirty="0"/>
              <a:t>SELECT nome_coluna1, nome_coluna2, ..., </a:t>
            </a:r>
            <a:r>
              <a:rPr lang="pt-BR" dirty="0" err="1"/>
              <a:t>nome_colunaN</a:t>
            </a:r>
            <a:r>
              <a:rPr lang="pt-BR" dirty="0"/>
              <a:t> FROM </a:t>
            </a:r>
            <a:r>
              <a:rPr lang="pt-BR" dirty="0" err="1"/>
              <a:t>nome_tabela</a:t>
            </a:r>
            <a:r>
              <a:rPr lang="pt-BR" dirty="0"/>
              <a:t> WHERE </a:t>
            </a:r>
            <a:r>
              <a:rPr lang="pt-BR" dirty="0" err="1"/>
              <a:t>nome_coluna</a:t>
            </a:r>
            <a:r>
              <a:rPr lang="pt-BR" dirty="0"/>
              <a:t> BETWEEN valor1 AND valor2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58E693D-05DE-475C-B652-7143D8C370A6}"/>
              </a:ext>
            </a:extLst>
          </p:cNvPr>
          <p:cNvSpPr txBox="1"/>
          <p:nvPr/>
        </p:nvSpPr>
        <p:spPr>
          <a:xfrm>
            <a:off x="1097280" y="197205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operador BETWEEN seleciona valores dentro de um determinado intervalo. Os valores podem ser números, texto ou datas.</a:t>
            </a:r>
          </a:p>
          <a:p>
            <a:endParaRPr lang="pt-BR" dirty="0"/>
          </a:p>
          <a:p>
            <a:r>
              <a:rPr lang="pt-BR" dirty="0"/>
              <a:t>O operador BETWEEN é inclusivo: os valores inicial e final são incluídos.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EB92115-B35F-4462-8516-66B5B16F6002}"/>
              </a:ext>
            </a:extLst>
          </p:cNvPr>
          <p:cNvSpPr txBox="1"/>
          <p:nvPr/>
        </p:nvSpPr>
        <p:spPr>
          <a:xfrm>
            <a:off x="7434469" y="4970944"/>
            <a:ext cx="4505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Exemplo</a:t>
            </a:r>
            <a:endParaRPr lang="en-US" dirty="0"/>
          </a:p>
          <a:p>
            <a:r>
              <a:rPr lang="en-US" dirty="0"/>
              <a:t>SELECT * FROM </a:t>
            </a:r>
            <a:r>
              <a:rPr lang="en-US" dirty="0" err="1"/>
              <a:t>Produtos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Preco</a:t>
            </a:r>
            <a:r>
              <a:rPr lang="en-US" dirty="0"/>
              <a:t> NOT BETWEEN 10 AND 20;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7474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 com SELECT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24 – Selecione o nome e id da região dos estados cuja </a:t>
            </a:r>
            <a:r>
              <a:rPr lang="pt-BR" dirty="0" err="1"/>
              <a:t>id_região</a:t>
            </a:r>
            <a:r>
              <a:rPr lang="pt-BR" dirty="0"/>
              <a:t> esteja entre os valores 2 e 4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78490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 com SELECT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5915995" cy="3873579"/>
          </a:xfrm>
        </p:spPr>
        <p:txBody>
          <a:bodyPr/>
          <a:lstStyle/>
          <a:p>
            <a:r>
              <a:rPr lang="pt-BR" dirty="0"/>
              <a:t>24 – Selecione o nome e id da região dos estados cuja </a:t>
            </a:r>
            <a:r>
              <a:rPr lang="pt-BR" dirty="0" err="1"/>
              <a:t>id_região</a:t>
            </a:r>
            <a:r>
              <a:rPr lang="pt-BR" dirty="0"/>
              <a:t> esteja entre os valores 2 e 4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C07E6B-D9F1-3EFD-D9F4-D071FF788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818" y="2553627"/>
            <a:ext cx="6308079" cy="228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893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UPDATE – atualizar valor armazenado na tabela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UPDATE </a:t>
            </a:r>
            <a:r>
              <a:rPr lang="pt-BR" dirty="0" err="1"/>
              <a:t>nome_tabela</a:t>
            </a:r>
            <a:r>
              <a:rPr lang="pt-BR" dirty="0"/>
              <a:t> </a:t>
            </a:r>
          </a:p>
          <a:p>
            <a:r>
              <a:rPr lang="pt-BR" dirty="0"/>
              <a:t>SET nome_coluna1 = valor1, </a:t>
            </a:r>
          </a:p>
          <a:p>
            <a:r>
              <a:rPr lang="pt-BR" dirty="0"/>
              <a:t>       nome_coluna2 = valor2, ..., </a:t>
            </a:r>
          </a:p>
          <a:p>
            <a:r>
              <a:rPr lang="pt-BR" dirty="0"/>
              <a:t>       </a:t>
            </a:r>
            <a:r>
              <a:rPr lang="pt-BR" dirty="0" err="1"/>
              <a:t>nome_colunaN</a:t>
            </a:r>
            <a:r>
              <a:rPr lang="pt-BR" dirty="0"/>
              <a:t> = </a:t>
            </a:r>
            <a:r>
              <a:rPr lang="pt-BR" dirty="0" err="1"/>
              <a:t>valorN</a:t>
            </a:r>
            <a:r>
              <a:rPr lang="pt-BR" dirty="0"/>
              <a:t> </a:t>
            </a:r>
          </a:p>
          <a:p>
            <a:r>
              <a:rPr lang="pt-BR" dirty="0"/>
              <a:t>WHERE condição 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8A9B71-A386-456A-B74C-67948C78EC14}"/>
              </a:ext>
            </a:extLst>
          </p:cNvPr>
          <p:cNvSpPr txBox="1"/>
          <p:nvPr/>
        </p:nvSpPr>
        <p:spPr>
          <a:xfrm>
            <a:off x="5724939" y="1951672"/>
            <a:ext cx="543074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Nota</a:t>
            </a:r>
            <a:r>
              <a:rPr lang="pt-BR" sz="2400" dirty="0"/>
              <a:t>: Tenha cuidado ao atualizar registros em uma tabela! Observe a cláusula WHERE na instrução UPDATE. </a:t>
            </a:r>
          </a:p>
          <a:p>
            <a:endParaRPr lang="pt-BR" sz="2400" dirty="0"/>
          </a:p>
          <a:p>
            <a:r>
              <a:rPr lang="pt-BR" sz="2400" dirty="0"/>
              <a:t>A cláusula WHERE especifica quais registros devem ser atualizados. Se você omitir a cláusula WHERE, todos os registros na tabela serão atualizados!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925206E-CA56-4C2B-AE70-224A716704D1}"/>
              </a:ext>
            </a:extLst>
          </p:cNvPr>
          <p:cNvSpPr txBox="1"/>
          <p:nvPr/>
        </p:nvSpPr>
        <p:spPr>
          <a:xfrm>
            <a:off x="649357" y="491931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Exemplo</a:t>
            </a:r>
            <a:endParaRPr lang="en-US" b="1" dirty="0"/>
          </a:p>
          <a:p>
            <a:r>
              <a:rPr lang="en-US" dirty="0"/>
              <a:t>UPDATE </a:t>
            </a:r>
            <a:r>
              <a:rPr lang="en-US" dirty="0" err="1"/>
              <a:t>Usuarios</a:t>
            </a:r>
            <a:endParaRPr lang="en-US" dirty="0"/>
          </a:p>
          <a:p>
            <a:r>
              <a:rPr lang="en-US" dirty="0"/>
              <a:t>SET </a:t>
            </a:r>
            <a:r>
              <a:rPr lang="en-US" dirty="0" err="1"/>
              <a:t>nome</a:t>
            </a:r>
            <a:r>
              <a:rPr lang="en-US" dirty="0"/>
              <a:t> = ‘Ana Maria’, </a:t>
            </a:r>
            <a:r>
              <a:rPr lang="en-US" dirty="0" err="1"/>
              <a:t>cidade</a:t>
            </a:r>
            <a:r>
              <a:rPr lang="en-US" dirty="0"/>
              <a:t> = ‘</a:t>
            </a:r>
            <a:r>
              <a:rPr lang="en-US" dirty="0" err="1"/>
              <a:t>Sobradinho</a:t>
            </a:r>
            <a:r>
              <a:rPr lang="en-US" dirty="0"/>
              <a:t>'</a:t>
            </a:r>
          </a:p>
          <a:p>
            <a:r>
              <a:rPr lang="en-US" dirty="0"/>
              <a:t>WHERE </a:t>
            </a:r>
            <a:r>
              <a:rPr lang="en-US" dirty="0" err="1"/>
              <a:t>id_usuario</a:t>
            </a:r>
            <a:r>
              <a:rPr lang="en-US" dirty="0"/>
              <a:t> = 1;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65461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UPDATE – Desativar o Modo de Atualizações Seguras nas Preferências (MySQL Workbench)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3839" y="1906119"/>
            <a:ext cx="4998720" cy="376143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Se você estiver usando o MySQL Workbench, você pode desativar o modo de atualizações seguras permanentemente nas preferências:</a:t>
            </a:r>
          </a:p>
          <a:p>
            <a:endParaRPr lang="pt-BR" dirty="0"/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Vá para </a:t>
            </a:r>
            <a:r>
              <a:rPr lang="pt-BR" dirty="0" err="1"/>
              <a:t>Edit</a:t>
            </a:r>
            <a:r>
              <a:rPr lang="pt-BR" dirty="0"/>
              <a:t> -&gt; </a:t>
            </a:r>
            <a:r>
              <a:rPr lang="pt-BR" dirty="0" err="1"/>
              <a:t>Preferences</a:t>
            </a:r>
            <a:r>
              <a:rPr lang="pt-BR" dirty="0"/>
              <a:t> -&gt; SQL Editor.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Desmarque a opção Safe Updates (</a:t>
            </a:r>
            <a:r>
              <a:rPr lang="pt-BR" dirty="0" err="1"/>
              <a:t>reject</a:t>
            </a:r>
            <a:r>
              <a:rPr lang="pt-BR" dirty="0"/>
              <a:t> </a:t>
            </a:r>
            <a:r>
              <a:rPr lang="pt-BR" dirty="0" err="1"/>
              <a:t>UPDATEs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DELETEs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no WHERE </a:t>
            </a:r>
            <a:r>
              <a:rPr lang="pt-BR" dirty="0" err="1"/>
              <a:t>clause</a:t>
            </a:r>
            <a:r>
              <a:rPr lang="pt-BR" dirty="0"/>
              <a:t> </a:t>
            </a:r>
            <a:r>
              <a:rPr lang="pt-BR" dirty="0" err="1"/>
              <a:t>or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a WHERE </a:t>
            </a:r>
            <a:r>
              <a:rPr lang="pt-BR" dirty="0" err="1"/>
              <a:t>clause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does </a:t>
            </a:r>
            <a:r>
              <a:rPr lang="pt-BR" dirty="0" err="1"/>
              <a:t>not</a:t>
            </a:r>
            <a:r>
              <a:rPr lang="pt-BR" dirty="0"/>
              <a:t> use a KEY </a:t>
            </a:r>
            <a:r>
              <a:rPr lang="pt-BR" dirty="0" err="1"/>
              <a:t>column</a:t>
            </a:r>
            <a:r>
              <a:rPr lang="pt-BR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Clique em OK e reconecte-se ao banco de dados para que as mudanças tenham efeito.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6670BDC-5EAE-A2DC-288A-202C67E92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510" y="1820769"/>
            <a:ext cx="2299310" cy="22863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FEFC54E-AD3C-1863-9DFD-466EF36E8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211" y="1978291"/>
            <a:ext cx="4386345" cy="335326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DEB75A6-67EE-56E9-64A1-3DA739C6A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81" y="5279192"/>
            <a:ext cx="4572638" cy="1428949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1B4A1F71-3DDD-83B0-E0DC-5B72D8D2AA6B}"/>
              </a:ext>
            </a:extLst>
          </p:cNvPr>
          <p:cNvSpPr/>
          <p:nvPr/>
        </p:nvSpPr>
        <p:spPr>
          <a:xfrm>
            <a:off x="8393502" y="4744528"/>
            <a:ext cx="2587924" cy="500332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4F28124-7427-4A85-99C3-0C1031002FE9}"/>
              </a:ext>
            </a:extLst>
          </p:cNvPr>
          <p:cNvSpPr/>
          <p:nvPr/>
        </p:nvSpPr>
        <p:spPr>
          <a:xfrm>
            <a:off x="6999484" y="5417389"/>
            <a:ext cx="451007" cy="500332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E24B4713-ACEE-A417-97B0-5816C3B81E9C}"/>
              </a:ext>
            </a:extLst>
          </p:cNvPr>
          <p:cNvSpPr/>
          <p:nvPr/>
        </p:nvSpPr>
        <p:spPr>
          <a:xfrm>
            <a:off x="7450491" y="2173857"/>
            <a:ext cx="290720" cy="2587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C55B0F9E-1B1C-9F0A-AF60-225A4CC81B72}"/>
              </a:ext>
            </a:extLst>
          </p:cNvPr>
          <p:cNvSpPr/>
          <p:nvPr/>
        </p:nvSpPr>
        <p:spPr>
          <a:xfrm rot="2551438">
            <a:off x="7323825" y="4799774"/>
            <a:ext cx="417385" cy="83676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Baixo 16">
            <a:extLst>
              <a:ext uri="{FF2B5EF4-FFF2-40B4-BE49-F238E27FC236}">
                <a16:creationId xmlns:a16="http://schemas.microsoft.com/office/drawing/2014/main" id="{86324976-4655-230F-0598-0F1B18E53840}"/>
              </a:ext>
            </a:extLst>
          </p:cNvPr>
          <p:cNvSpPr/>
          <p:nvPr/>
        </p:nvSpPr>
        <p:spPr>
          <a:xfrm rot="8821755">
            <a:off x="5427380" y="2072652"/>
            <a:ext cx="308534" cy="5722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8ABAC6B7-4ED2-A51D-CEAE-A550658A51D8}"/>
              </a:ext>
            </a:extLst>
          </p:cNvPr>
          <p:cNvSpPr/>
          <p:nvPr/>
        </p:nvSpPr>
        <p:spPr>
          <a:xfrm>
            <a:off x="5130640" y="1867268"/>
            <a:ext cx="451007" cy="500332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42388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UPDATE – atualizar valor armazenado na tabela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25 - substitua a sigla de 'CO' para 'BB', onde o nome for 'Centro-Oeste'. Mostre os dados antes e depois da mudança</a:t>
            </a:r>
          </a:p>
          <a:p>
            <a:endParaRPr lang="pt-BR" dirty="0"/>
          </a:p>
          <a:p>
            <a:r>
              <a:rPr lang="pt-BR" dirty="0"/>
              <a:t>26 - substitua a sigla de 'CO' para 'BB', SEM USAR WHERE e veja o que acontece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42512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UPDATE – atualizar valor armazenado na tabela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3448841" cy="3761436"/>
          </a:xfrm>
        </p:spPr>
        <p:txBody>
          <a:bodyPr/>
          <a:lstStyle/>
          <a:p>
            <a:r>
              <a:rPr lang="pt-BR" dirty="0"/>
              <a:t>25 - substitua a sigla de 'CO' para 'BB', onde o nome for 'Centro-Oeste'. Mostre os dados antes e depois da mudança</a:t>
            </a:r>
          </a:p>
          <a:p>
            <a:endParaRPr lang="pt-BR" dirty="0"/>
          </a:p>
          <a:p>
            <a:r>
              <a:rPr lang="pt-BR" dirty="0"/>
              <a:t>26 - substitua a sigla de 'CO' para 'BB', SEM USAR WHERE e veja o que acontece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9C62220-E38B-DC3C-69BA-F92CD2FF7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930" y="1907160"/>
            <a:ext cx="2876951" cy="38200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83CF54B7-B7E9-460C-FD7B-304D37A98EAB}"/>
              </a:ext>
            </a:extLst>
          </p:cNvPr>
          <p:cNvSpPr/>
          <p:nvPr/>
        </p:nvSpPr>
        <p:spPr>
          <a:xfrm rot="10800000">
            <a:off x="6484932" y="5218260"/>
            <a:ext cx="793630" cy="5089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F1708CF-503D-BCA0-FD51-F6DA46B3A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821" y="1869054"/>
            <a:ext cx="2800741" cy="389626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803318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6319" y="376919"/>
            <a:ext cx="10058400" cy="1450757"/>
          </a:xfrm>
        </p:spPr>
        <p:txBody>
          <a:bodyPr/>
          <a:lstStyle/>
          <a:p>
            <a:r>
              <a:rPr lang="pt-BR" dirty="0"/>
              <a:t>DELETE – Excluir todos os registros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pt-B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pt-B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dirty="0"/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96C631-850A-4D8A-990D-B07B5C6E09FF}"/>
              </a:ext>
            </a:extLst>
          </p:cNvPr>
          <p:cNvSpPr txBox="1"/>
          <p:nvPr/>
        </p:nvSpPr>
        <p:spPr>
          <a:xfrm>
            <a:off x="7381460" y="1845734"/>
            <a:ext cx="462500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É possível excluir todas as linhas de uma tabela sem excluir a tabela. Isso significa que a estrutura da tabela, atributos e índices estarão intactos:</a:t>
            </a:r>
            <a:endParaRPr lang="pt-BR" sz="2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6DBB747-01DD-463F-B663-AF646ED33C2E}"/>
              </a:ext>
            </a:extLst>
          </p:cNvPr>
          <p:cNvSpPr txBox="1"/>
          <p:nvPr/>
        </p:nvSpPr>
        <p:spPr>
          <a:xfrm>
            <a:off x="1036319" y="4752418"/>
            <a:ext cx="7551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Exemplo</a:t>
            </a:r>
            <a:r>
              <a:rPr lang="en-US" b="1" dirty="0"/>
              <a:t>:</a:t>
            </a:r>
          </a:p>
          <a:p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pt-B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Usuarios</a:t>
            </a:r>
            <a:r>
              <a:rPr lang="pt-B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68813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DELETE – excluir registros existentes em uma tabela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C29A40-2D5C-24A0-3014-98A8AFA22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27 - Apague o Amazonas registros</a:t>
            </a:r>
          </a:p>
          <a:p>
            <a:endParaRPr lang="pt-BR" dirty="0"/>
          </a:p>
          <a:p>
            <a:r>
              <a:rPr lang="pt-BR" dirty="0"/>
              <a:t>28 - Apague a região Norte dos registros. Pode? Por que?</a:t>
            </a:r>
          </a:p>
        </p:txBody>
      </p:sp>
    </p:spTree>
    <p:extLst>
      <p:ext uri="{BB962C8B-B14F-4D97-AF65-F5344CB8AC3E}">
        <p14:creationId xmlns:p14="http://schemas.microsoft.com/office/powerpoint/2010/main" val="31795690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DELETE – excluir registros existentes em uma tabela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C29A40-2D5C-24A0-3014-98A8AFA22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491973" cy="3804568"/>
          </a:xfrm>
        </p:spPr>
        <p:txBody>
          <a:bodyPr/>
          <a:lstStyle/>
          <a:p>
            <a:r>
              <a:rPr lang="pt-BR" dirty="0"/>
              <a:t>27 - Apague o Amazonas registros</a:t>
            </a:r>
          </a:p>
          <a:p>
            <a:endParaRPr lang="pt-BR" dirty="0"/>
          </a:p>
          <a:p>
            <a:r>
              <a:rPr lang="pt-BR" dirty="0"/>
              <a:t>28 - Apague a região Norte dos registros. Pode? Por que?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4BA9F0C-3FA8-DE8A-BAD7-D52B896CF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095" y="1961944"/>
            <a:ext cx="3762900" cy="35056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CF348E3-8213-3A0D-B34E-CFFA8D83A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0950" y="1961944"/>
            <a:ext cx="2943636" cy="331516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91547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549</TotalTime>
  <Words>2893</Words>
  <Application>Microsoft Office PowerPoint</Application>
  <PresentationFormat>Widescreen</PresentationFormat>
  <Paragraphs>283</Paragraphs>
  <Slides>44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3" baseType="lpstr">
      <vt:lpstr>Arial</vt:lpstr>
      <vt:lpstr>Calibri</vt:lpstr>
      <vt:lpstr>Calibri Light</vt:lpstr>
      <vt:lpstr>Consolas</vt:lpstr>
      <vt:lpstr>Segoe UI</vt:lpstr>
      <vt:lpstr>Verdana</vt:lpstr>
      <vt:lpstr>Wingdings</vt:lpstr>
      <vt:lpstr>Retrospectiva</vt:lpstr>
      <vt:lpstr>Imagem</vt:lpstr>
      <vt:lpstr>SQL</vt:lpstr>
      <vt:lpstr>Lembrando...</vt:lpstr>
      <vt:lpstr>COMANDOS DML- Data Manipulation Language </vt:lpstr>
      <vt:lpstr>Criar o database db_ibge</vt:lpstr>
      <vt:lpstr>Criar o database db_ibge</vt:lpstr>
      <vt:lpstr>Comandos SQL – criar a base de dados ibge e criar a tabela tb_regioes</vt:lpstr>
      <vt:lpstr>Fazer os insert  na tabela tb_regioes </vt:lpstr>
      <vt:lpstr>Fazer os insert  na tabela tb_regioes </vt:lpstr>
      <vt:lpstr>Criar a tabela tb_estados</vt:lpstr>
      <vt:lpstr>Fazer os inserts em tb_estados</vt:lpstr>
      <vt:lpstr>Fazer os insert  na tabela tb_estados</vt:lpstr>
      <vt:lpstr>Fazer os insert  na tabela tb_estados</vt:lpstr>
      <vt:lpstr>Fazer os insert  na tabela tb_estados</vt:lpstr>
      <vt:lpstr>Fazer os insert  na tabela tb_estados</vt:lpstr>
      <vt:lpstr>Fazer os insert  na tabela tb_estados</vt:lpstr>
      <vt:lpstr>SELECT</vt:lpstr>
      <vt:lpstr>Prática com SELECT</vt:lpstr>
      <vt:lpstr>WHERE</vt:lpstr>
      <vt:lpstr>Prática com SELECT</vt:lpstr>
      <vt:lpstr>Prática com SELECT</vt:lpstr>
      <vt:lpstr>Operadores: AND / OR</vt:lpstr>
      <vt:lpstr>Prática com SELECT</vt:lpstr>
      <vt:lpstr>Prática com SELECT</vt:lpstr>
      <vt:lpstr>ORDER BY – ordenar a apresentação dos dados</vt:lpstr>
      <vt:lpstr>Prática com SELECT</vt:lpstr>
      <vt:lpstr>Prática com SELECT</vt:lpstr>
      <vt:lpstr>LIKE – condição para seleção de linhas</vt:lpstr>
      <vt:lpstr>LIKE – condição para seleção de linhas</vt:lpstr>
      <vt:lpstr>Prática com SELECT</vt:lpstr>
      <vt:lpstr>Prática com SELECT</vt:lpstr>
      <vt:lpstr>IN (significa DENTRO)</vt:lpstr>
      <vt:lpstr>NOT – (significa não)</vt:lpstr>
      <vt:lpstr>Prática com SELECT</vt:lpstr>
      <vt:lpstr>Prática com SELECT</vt:lpstr>
      <vt:lpstr>BETWEEN (significa ENTRE – é semelhante ao usar o AND para faixa de valores) </vt:lpstr>
      <vt:lpstr>Prática com SELECT</vt:lpstr>
      <vt:lpstr>Prática com SELECT</vt:lpstr>
      <vt:lpstr>UPDATE – atualizar valor armazenado na tabela </vt:lpstr>
      <vt:lpstr>UPDATE – Desativar o Modo de Atualizações Seguras nas Preferências (MySQL Workbench)</vt:lpstr>
      <vt:lpstr>UPDATE – atualizar valor armazenado na tabela </vt:lpstr>
      <vt:lpstr>UPDATE – atualizar valor armazenado na tabela </vt:lpstr>
      <vt:lpstr>DELETE – Excluir todos os registros</vt:lpstr>
      <vt:lpstr>DELETE – excluir registros existentes em uma tabela</vt:lpstr>
      <vt:lpstr>DELETE – excluir registros existentes em uma tabela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Usuário do Windows</dc:creator>
  <cp:lastModifiedBy>Salvador Melo</cp:lastModifiedBy>
  <cp:revision>46</cp:revision>
  <dcterms:created xsi:type="dcterms:W3CDTF">2020-09-30T06:36:09Z</dcterms:created>
  <dcterms:modified xsi:type="dcterms:W3CDTF">2024-05-07T20:17:19Z</dcterms:modified>
</cp:coreProperties>
</file>